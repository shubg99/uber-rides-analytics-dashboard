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17352F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7352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143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PROJECT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" y="1554480"/>
            <a:ext cx="9601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Uber Rides Analytics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3749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ride-hailing data into decision-ready business insights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4434840"/>
            <a:ext cx="1097280" cy="0"/>
          </a:xfrm>
          <a:prstGeom prst="line">
            <a:avLst/>
          </a:prstGeom>
          <a:noFill/>
          <a:ln w="38100">
            <a:solidFill>
              <a:srgbClr val="0FB9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•  Overview  •  Vehicle  •  Revenue  •  Customer  •  Location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dashboard was built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640080" cy="640080"/>
          </a:xfrm>
          <a:prstGeom prst="ellipse">
            <a:avLst/>
          </a:prstGeom>
          <a:solidFill>
            <a:srgbClr val="E6FB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3042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97180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the data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3611880"/>
            <a:ext cx="20939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bookings, revenue, vehicle, and customer data into a single connected model.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74720" y="18288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49040" y="2148840"/>
            <a:ext cx="640080" cy="640080"/>
          </a:xfrm>
          <a:prstGeom prst="ellipse">
            <a:avLst/>
          </a:prstGeom>
          <a:solidFill>
            <a:srgbClr val="E6FB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488" y="23042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30752" y="297180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KPIs instantly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730752" y="3611880"/>
            <a:ext cx="20939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stakeholders at-a-glance visibility into performance without digging through spreadsheets.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18288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0" y="2148840"/>
            <a:ext cx="640080" cy="640080"/>
          </a:xfrm>
          <a:prstGeom prst="ellipse">
            <a:avLst/>
          </a:prstGeom>
          <a:solidFill>
            <a:srgbClr val="E6FB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23042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65392" y="297180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operational risk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565392" y="3611880"/>
            <a:ext cx="20939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cancellations, lost revenue, and completion rates, not just totals.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44000" y="182880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418320" y="2148840"/>
            <a:ext cx="640080" cy="640080"/>
          </a:xfrm>
          <a:prstGeom prst="ellipse">
            <a:avLst/>
          </a:prstGeom>
          <a:solidFill>
            <a:srgbClr val="E6FB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3768" y="230428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00032" y="2971800"/>
            <a:ext cx="2093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practical BI skill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400032" y="3611880"/>
            <a:ext cx="209397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real Power Query, DAX, and report-design workflow end to end.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powers this report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901952"/>
            <a:ext cx="384048" cy="384048"/>
          </a:xfrm>
          <a:prstGeom prst="ellipse">
            <a:avLst/>
          </a:prstGeom>
          <a:solidFill>
            <a:srgbClr val="17352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002536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013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212080" y="180136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modeling, DAX measures, and end-to-end report design.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5800" y="2953512"/>
            <a:ext cx="384048" cy="384048"/>
          </a:xfrm>
          <a:prstGeom prst="ellipse">
            <a:avLst/>
          </a:prstGeom>
          <a:solidFill>
            <a:srgbClr val="17352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3054096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8529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(M)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212080" y="285292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shaping, and transforming raw ride data.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85800" y="4005072"/>
            <a:ext cx="384048" cy="384048"/>
          </a:xfrm>
          <a:prstGeom prst="ellipse">
            <a:avLst/>
          </a:prstGeom>
          <a:solidFill>
            <a:srgbClr val="17352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4105656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9044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5212080" y="390448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measures and KPI logic driving every card and chart.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85800" y="5056632"/>
            <a:ext cx="384048" cy="384048"/>
          </a:xfrm>
          <a:prstGeom prst="ellipse">
            <a:avLst/>
          </a:prstGeom>
          <a:solidFill>
            <a:srgbClr val="17352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5157216"/>
            <a:ext cx="182880" cy="1828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49560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Visuals &amp; Icons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212080" y="495604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consistent, branded look across all six report pages.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focused pages, one connected story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39112"/>
            <a:ext cx="548640" cy="548640"/>
          </a:xfrm>
          <a:prstGeom prst="ellipse">
            <a:avLst/>
          </a:prstGeom>
          <a:solidFill>
            <a:srgbClr val="E6FB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16712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6974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6112" y="306324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hub for the report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62272" y="17830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18304" y="2039112"/>
            <a:ext cx="548640" cy="548640"/>
          </a:xfrm>
          <a:prstGeom prst="ellipse">
            <a:avLst/>
          </a:prstGeom>
          <a:solidFill>
            <a:srgbClr val="E6FB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16712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18304" y="26974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18304" y="306324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KPIs at a glance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84464" y="17830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0496" y="2039112"/>
            <a:ext cx="548640" cy="548640"/>
          </a:xfrm>
          <a:prstGeom prst="ellipse">
            <a:avLst/>
          </a:prstGeom>
          <a:solidFill>
            <a:srgbClr val="E6FB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512" y="216712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40496" y="2697480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40496" y="306324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by vehicle type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005072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261104"/>
            <a:ext cx="548640" cy="548640"/>
          </a:xfrm>
          <a:prstGeom prst="ellipse">
            <a:avLst/>
          </a:prstGeom>
          <a:solidFill>
            <a:srgbClr val="E6FB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438912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" y="491947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96112" y="5285232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and growth drivers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462272" y="4005072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18304" y="4261104"/>
            <a:ext cx="548640" cy="548640"/>
          </a:xfrm>
          <a:prstGeom prst="ellipse">
            <a:avLst/>
          </a:prstGeom>
          <a:solidFill>
            <a:srgbClr val="E6FBF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389120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18304" y="491947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718304" y="5285232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&amp; segmentation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284464" y="4005072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540496" y="4261104"/>
            <a:ext cx="548640" cy="548640"/>
          </a:xfrm>
          <a:prstGeom prst="ellipse">
            <a:avLst/>
          </a:prstGeom>
          <a:solidFill>
            <a:srgbClr val="E6FBF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8512" y="4389120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40496" y="4919472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540496" y="5285232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demand hotspots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6FBF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&amp; navigation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93776" y="1316736"/>
            <a:ext cx="7059168" cy="5138928"/>
          </a:xfrm>
          <a:prstGeom prst="roundRect">
            <a:avLst>
              <a:gd name="adj" fmla="val 8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1" descr="/home/claude/build/shots/01-hom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61821"/>
            <a:ext cx="6949440" cy="404875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818120" y="1472184"/>
            <a:ext cx="146304" cy="146304"/>
          </a:xfrm>
          <a:prstGeom prst="ellipse">
            <a:avLst/>
          </a:prstGeom>
          <a:solidFill>
            <a:srgbClr val="0FB9A6"/>
          </a:solidFill>
          <a:ln/>
        </p:spPr>
      </p:sp>
      <p:sp>
        <p:nvSpPr>
          <p:cNvPr id="9" name="Text 5"/>
          <p:cNvSpPr/>
          <p:nvPr/>
        </p:nvSpPr>
        <p:spPr>
          <a:xfrm>
            <a:off x="8110728" y="1307592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landing page introducing the project scope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818120" y="2368296"/>
            <a:ext cx="146304" cy="146304"/>
          </a:xfrm>
          <a:prstGeom prst="ellipse">
            <a:avLst/>
          </a:prstGeom>
          <a:solidFill>
            <a:srgbClr val="0FB9A6"/>
          </a:solidFill>
          <a:ln/>
        </p:spPr>
      </p:sp>
      <p:sp>
        <p:nvSpPr>
          <p:cNvPr id="11" name="Text 7"/>
          <p:cNvSpPr/>
          <p:nvPr/>
        </p:nvSpPr>
        <p:spPr>
          <a:xfrm>
            <a:off x="8110728" y="2203704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navigation to all 5 analysis pages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818120" y="3264408"/>
            <a:ext cx="146304" cy="146304"/>
          </a:xfrm>
          <a:prstGeom prst="ellipse">
            <a:avLst/>
          </a:prstGeom>
          <a:solidFill>
            <a:srgbClr val="0FB9A6"/>
          </a:solidFill>
          <a:ln/>
        </p:spPr>
      </p:sp>
      <p:sp>
        <p:nvSpPr>
          <p:cNvPr id="13" name="Text 9"/>
          <p:cNvSpPr/>
          <p:nvPr/>
        </p:nvSpPr>
        <p:spPr>
          <a:xfrm>
            <a:off x="8110728" y="3099816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context: bookings, revenue, cancellations, and performance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6FBF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KPIs at a glance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93776" y="1316736"/>
            <a:ext cx="7059168" cy="5138928"/>
          </a:xfrm>
          <a:prstGeom prst="roundRect">
            <a:avLst>
              <a:gd name="adj" fmla="val 8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1" descr="/home/claude/build/shots/02-overview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867"/>
            <a:ext cx="6949440" cy="402266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818120" y="1472184"/>
            <a:ext cx="146304" cy="146304"/>
          </a:xfrm>
          <a:prstGeom prst="ellipse">
            <a:avLst/>
          </a:prstGeom>
          <a:solidFill>
            <a:srgbClr val="0FB9A6"/>
          </a:solidFill>
          <a:ln/>
        </p:spPr>
      </p:sp>
      <p:sp>
        <p:nvSpPr>
          <p:cNvPr id="9" name="Text 5"/>
          <p:cNvSpPr/>
          <p:nvPr/>
        </p:nvSpPr>
        <p:spPr>
          <a:xfrm>
            <a:off x="8110728" y="1307592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93K Bookings, 57K Lost Bookings, 52M Revenue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818120" y="2368296"/>
            <a:ext cx="146304" cy="146304"/>
          </a:xfrm>
          <a:prstGeom prst="ellipse">
            <a:avLst/>
          </a:prstGeom>
          <a:solidFill>
            <a:srgbClr val="0FB9A6"/>
          </a:solidFill>
          <a:ln/>
        </p:spPr>
      </p:sp>
      <p:sp>
        <p:nvSpPr>
          <p:cNvPr id="11" name="Text 7"/>
          <p:cNvSpPr/>
          <p:nvPr/>
        </p:nvSpPr>
        <p:spPr>
          <a:xfrm>
            <a:off x="8110728" y="2203704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2.51M total distance, 24.64 avg distance per trip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818120" y="3264408"/>
            <a:ext cx="146304" cy="146304"/>
          </a:xfrm>
          <a:prstGeom prst="ellipse">
            <a:avLst/>
          </a:prstGeom>
          <a:solidFill>
            <a:srgbClr val="0FB9A6"/>
          </a:solidFill>
          <a:ln/>
        </p:spPr>
      </p:sp>
      <p:sp>
        <p:nvSpPr>
          <p:cNvPr id="13" name="Text 9"/>
          <p:cNvSpPr/>
          <p:nvPr/>
        </p:nvSpPr>
        <p:spPr>
          <a:xfrm>
            <a:off x="8110728" y="3099816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booking &amp; revenue trend charts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818120" y="4160520"/>
            <a:ext cx="146304" cy="146304"/>
          </a:xfrm>
          <a:prstGeom prst="ellipse">
            <a:avLst/>
          </a:prstGeom>
          <a:solidFill>
            <a:srgbClr val="0FB9A6"/>
          </a:solidFill>
          <a:ln/>
        </p:spPr>
      </p:sp>
      <p:sp>
        <p:nvSpPr>
          <p:cNvPr id="15" name="Text 11"/>
          <p:cNvSpPr/>
          <p:nvPr/>
        </p:nvSpPr>
        <p:spPr>
          <a:xfrm>
            <a:off x="8110728" y="3995928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vehicle type, top pickup/drop points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818120" y="5056632"/>
            <a:ext cx="146304" cy="146304"/>
          </a:xfrm>
          <a:prstGeom prst="ellipse">
            <a:avLst/>
          </a:prstGeom>
          <a:solidFill>
            <a:srgbClr val="0FB9A6"/>
          </a:solidFill>
          <a:ln/>
        </p:spPr>
      </p:sp>
      <p:sp>
        <p:nvSpPr>
          <p:cNvPr id="17" name="Text 13"/>
          <p:cNvSpPr/>
          <p:nvPr/>
        </p:nvSpPr>
        <p:spPr>
          <a:xfrm>
            <a:off x="8110728" y="4892040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4.40 avg customer rating, 4.23 avg driver rating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6FBF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by vehicle type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93776" y="1316736"/>
            <a:ext cx="7059168" cy="5138928"/>
          </a:xfrm>
          <a:prstGeom prst="roundRect">
            <a:avLst>
              <a:gd name="adj" fmla="val 8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1" descr="/home/claude/build/shots/03-vehicl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93307"/>
            <a:ext cx="6949440" cy="398578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818120" y="1472184"/>
            <a:ext cx="146304" cy="146304"/>
          </a:xfrm>
          <a:prstGeom prst="ellipse">
            <a:avLst/>
          </a:prstGeom>
          <a:solidFill>
            <a:srgbClr val="0FB9A6"/>
          </a:solidFill>
          <a:ln/>
        </p:spPr>
      </p:sp>
      <p:sp>
        <p:nvSpPr>
          <p:cNvPr id="9" name="Text 5"/>
          <p:cNvSpPr/>
          <p:nvPr/>
        </p:nvSpPr>
        <p:spPr>
          <a:xfrm>
            <a:off x="8110728" y="1307592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is the top revenue vehicle at 24.84% share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818120" y="2368296"/>
            <a:ext cx="146304" cy="146304"/>
          </a:xfrm>
          <a:prstGeom prst="ellipse">
            <a:avLst/>
          </a:prstGeom>
          <a:solidFill>
            <a:srgbClr val="0FB9A6"/>
          </a:solidFill>
          <a:ln/>
        </p:spPr>
      </p:sp>
      <p:sp>
        <p:nvSpPr>
          <p:cNvPr id="11" name="Text 7"/>
          <p:cNvSpPr/>
          <p:nvPr/>
        </p:nvSpPr>
        <p:spPr>
          <a:xfrm>
            <a:off x="8110728" y="2203704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breakdown: customers, revenue, bookings per type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818120" y="3264408"/>
            <a:ext cx="146304" cy="146304"/>
          </a:xfrm>
          <a:prstGeom prst="ellipse">
            <a:avLst/>
          </a:prstGeom>
          <a:solidFill>
            <a:srgbClr val="0FB9A6"/>
          </a:solidFill>
          <a:ln/>
        </p:spPr>
      </p:sp>
      <p:sp>
        <p:nvSpPr>
          <p:cNvPr id="13" name="Text 9"/>
          <p:cNvSpPr/>
          <p:nvPr/>
        </p:nvSpPr>
        <p:spPr>
          <a:xfrm>
            <a:off x="8110728" y="3099816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62.21% ride completion rate vs. 38.19% incomplete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818120" y="4160520"/>
            <a:ext cx="146304" cy="146304"/>
          </a:xfrm>
          <a:prstGeom prst="ellipse">
            <a:avLst/>
          </a:prstGeom>
          <a:solidFill>
            <a:srgbClr val="0FB9A6"/>
          </a:solidFill>
          <a:ln/>
        </p:spPr>
      </p:sp>
      <p:sp>
        <p:nvSpPr>
          <p:cNvPr id="15" name="Text 11"/>
          <p:cNvSpPr/>
          <p:nvPr/>
        </p:nvSpPr>
        <p:spPr>
          <a:xfrm>
            <a:off x="8110728" y="3995928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Per-vehicle monthly trend sparklines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6FBF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&amp; unit economics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93776" y="1316736"/>
            <a:ext cx="7059168" cy="5138928"/>
          </a:xfrm>
          <a:prstGeom prst="roundRect">
            <a:avLst>
              <a:gd name="adj" fmla="val 8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1" descr="/home/claude/build/shots/04-revenu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86485"/>
            <a:ext cx="6949440" cy="399943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818120" y="1472184"/>
            <a:ext cx="146304" cy="146304"/>
          </a:xfrm>
          <a:prstGeom prst="ellipse">
            <a:avLst/>
          </a:prstGeom>
          <a:solidFill>
            <a:srgbClr val="0FB9A6"/>
          </a:solidFill>
          <a:ln/>
        </p:spPr>
      </p:sp>
      <p:sp>
        <p:nvSpPr>
          <p:cNvPr id="9" name="Text 5"/>
          <p:cNvSpPr/>
          <p:nvPr/>
        </p:nvSpPr>
        <p:spPr>
          <a:xfrm>
            <a:off x="8110728" y="1307592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leads payment methods at 23M in revenue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818120" y="2368296"/>
            <a:ext cx="146304" cy="146304"/>
          </a:xfrm>
          <a:prstGeom prst="ellipse">
            <a:avLst/>
          </a:prstGeom>
          <a:solidFill>
            <a:srgbClr val="0FB9A6"/>
          </a:solidFill>
          <a:ln/>
        </p:spPr>
      </p:sp>
      <p:sp>
        <p:nvSpPr>
          <p:cNvPr id="11" name="Text 7"/>
          <p:cNvSpPr/>
          <p:nvPr/>
        </p:nvSpPr>
        <p:spPr>
          <a:xfrm>
            <a:off x="8110728" y="2203704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revenue per booking: 348.51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818120" y="3264408"/>
            <a:ext cx="146304" cy="146304"/>
          </a:xfrm>
          <a:prstGeom prst="ellipse">
            <a:avLst/>
          </a:prstGeom>
          <a:solidFill>
            <a:srgbClr val="0FB9A6"/>
          </a:solidFill>
          <a:ln/>
        </p:spPr>
      </p:sp>
      <p:sp>
        <p:nvSpPr>
          <p:cNvPr id="13" name="Text 9"/>
          <p:cNvSpPr/>
          <p:nvPr/>
        </p:nvSpPr>
        <p:spPr>
          <a:xfrm>
            <a:off x="8110728" y="3099816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KM: 20.63 | Lost revenue: 19.80M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818120" y="4160520"/>
            <a:ext cx="146304" cy="146304"/>
          </a:xfrm>
          <a:prstGeom prst="ellipse">
            <a:avLst/>
          </a:prstGeom>
          <a:solidFill>
            <a:srgbClr val="0FB9A6"/>
          </a:solidFill>
          <a:ln/>
        </p:spPr>
      </p:sp>
      <p:sp>
        <p:nvSpPr>
          <p:cNvPr id="15" name="Text 11"/>
          <p:cNvSpPr/>
          <p:nvPr/>
        </p:nvSpPr>
        <p:spPr>
          <a:xfrm>
            <a:off x="8110728" y="3995928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revenue-contributing customers ranked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6FBF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&amp; cancellation risk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93776" y="1316736"/>
            <a:ext cx="7059168" cy="5138928"/>
          </a:xfrm>
          <a:prstGeom prst="roundRect">
            <a:avLst>
              <a:gd name="adj" fmla="val 8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1" descr="/home/claude/build/shots/05-custom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61821"/>
            <a:ext cx="6949440" cy="404875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818120" y="1472184"/>
            <a:ext cx="146304" cy="146304"/>
          </a:xfrm>
          <a:prstGeom prst="ellipse">
            <a:avLst/>
          </a:prstGeom>
          <a:solidFill>
            <a:srgbClr val="0FB9A6"/>
          </a:solidFill>
          <a:ln/>
        </p:spPr>
      </p:sp>
      <p:sp>
        <p:nvSpPr>
          <p:cNvPr id="9" name="Text 5"/>
          <p:cNvSpPr/>
          <p:nvPr/>
        </p:nvSpPr>
        <p:spPr>
          <a:xfrm>
            <a:off x="8110728" y="1307592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First-time, return, and regular customer segments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818120" y="2368296"/>
            <a:ext cx="146304" cy="146304"/>
          </a:xfrm>
          <a:prstGeom prst="ellipse">
            <a:avLst/>
          </a:prstGeom>
          <a:solidFill>
            <a:srgbClr val="0FB9A6"/>
          </a:solidFill>
          <a:ln/>
        </p:spPr>
      </p:sp>
      <p:sp>
        <p:nvSpPr>
          <p:cNvPr id="11" name="Text 7"/>
          <p:cNvSpPr/>
          <p:nvPr/>
        </p:nvSpPr>
        <p:spPr>
          <a:xfrm>
            <a:off x="8110728" y="2203704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 customer cancellation rate, 10% revenue at risk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818120" y="3264408"/>
            <a:ext cx="146304" cy="146304"/>
          </a:xfrm>
          <a:prstGeom prst="ellipse">
            <a:avLst/>
          </a:prstGeom>
          <a:solidFill>
            <a:srgbClr val="0FB9A6"/>
          </a:solidFill>
          <a:ln/>
        </p:spPr>
      </p:sp>
      <p:sp>
        <p:nvSpPr>
          <p:cNvPr id="13" name="Text 9"/>
          <p:cNvSpPr/>
          <p:nvPr/>
        </p:nvSpPr>
        <p:spPr>
          <a:xfrm>
            <a:off x="8110728" y="3099816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645.11K revenue impact from customer cancellations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818120" y="4160520"/>
            <a:ext cx="146304" cy="146304"/>
          </a:xfrm>
          <a:prstGeom prst="ellipse">
            <a:avLst/>
          </a:prstGeom>
          <a:solidFill>
            <a:srgbClr val="0FB9A6"/>
          </a:solidFill>
          <a:ln/>
        </p:spPr>
      </p:sp>
      <p:sp>
        <p:nvSpPr>
          <p:cNvPr id="15" name="Text 11"/>
          <p:cNvSpPr/>
          <p:nvPr/>
        </p:nvSpPr>
        <p:spPr>
          <a:xfrm>
            <a:off x="8110728" y="3995928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"Driver asked to cancel" is the top cancel reason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E6FBF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57607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88720" y="868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demand &amp; timing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493776" y="1316736"/>
            <a:ext cx="7059168" cy="5138928"/>
          </a:xfrm>
          <a:prstGeom prst="roundRect">
            <a:avLst>
              <a:gd name="adj" fmla="val 8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1" descr="/home/claude/build/shots/06-location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80381"/>
            <a:ext cx="6949440" cy="401163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818120" y="1472184"/>
            <a:ext cx="146304" cy="146304"/>
          </a:xfrm>
          <a:prstGeom prst="ellipse">
            <a:avLst/>
          </a:prstGeom>
          <a:solidFill>
            <a:srgbClr val="0FB9A6"/>
          </a:solidFill>
          <a:ln/>
        </p:spPr>
      </p:sp>
      <p:sp>
        <p:nvSpPr>
          <p:cNvPr id="9" name="Text 5"/>
          <p:cNvSpPr/>
          <p:nvPr/>
        </p:nvSpPr>
        <p:spPr>
          <a:xfrm>
            <a:off x="8110728" y="1307592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travelled by vehicle type and by location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7818120" y="2368296"/>
            <a:ext cx="146304" cy="146304"/>
          </a:xfrm>
          <a:prstGeom prst="ellipse">
            <a:avLst/>
          </a:prstGeom>
          <a:solidFill>
            <a:srgbClr val="0FB9A6"/>
          </a:solidFill>
          <a:ln/>
        </p:spPr>
      </p:sp>
      <p:sp>
        <p:nvSpPr>
          <p:cNvPr id="11" name="Text 7"/>
          <p:cNvSpPr/>
          <p:nvPr/>
        </p:nvSpPr>
        <p:spPr>
          <a:xfrm>
            <a:off x="8110728" y="2203704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Khandsa and Barakhamba Road are top demand areas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818120" y="3264408"/>
            <a:ext cx="146304" cy="146304"/>
          </a:xfrm>
          <a:prstGeom prst="ellipse">
            <a:avLst/>
          </a:prstGeom>
          <a:solidFill>
            <a:srgbClr val="0FB9A6"/>
          </a:solidFill>
          <a:ln/>
        </p:spPr>
      </p:sp>
      <p:sp>
        <p:nvSpPr>
          <p:cNvPr id="13" name="Text 9"/>
          <p:cNvSpPr/>
          <p:nvPr/>
        </p:nvSpPr>
        <p:spPr>
          <a:xfrm>
            <a:off x="8110728" y="3099816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Day-of-week × time-slot heatmap for demand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818120" y="4160520"/>
            <a:ext cx="146304" cy="146304"/>
          </a:xfrm>
          <a:prstGeom prst="ellipse">
            <a:avLst/>
          </a:prstGeom>
          <a:solidFill>
            <a:srgbClr val="0FB9A6"/>
          </a:solidFill>
          <a:ln/>
        </p:spPr>
      </p:sp>
      <p:sp>
        <p:nvSpPr>
          <p:cNvPr id="15" name="Text 11"/>
          <p:cNvSpPr/>
          <p:nvPr/>
        </p:nvSpPr>
        <p:spPr>
          <a:xfrm>
            <a:off x="8110728" y="3995928"/>
            <a:ext cx="3502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demand window: 6 PM – 9 PM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B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1D2430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052828"/>
            <a:ext cx="384048" cy="384048"/>
          </a:xfrm>
          <a:prstGeom prst="ellipse">
            <a:avLst/>
          </a:prstGeom>
          <a:solidFill>
            <a:srgbClr val="17352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153412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7452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drives the most revenue (24.84% share) — Bike and Go Mini follow closely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807208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1D2430"/>
          </a:solidFill>
          <a:ln/>
        </p:spPr>
      </p:sp>
      <p:sp>
        <p:nvSpPr>
          <p:cNvPr id="9" name="Shape 6"/>
          <p:cNvSpPr/>
          <p:nvPr/>
        </p:nvSpPr>
        <p:spPr>
          <a:xfrm>
            <a:off x="841248" y="2985516"/>
            <a:ext cx="384048" cy="384048"/>
          </a:xfrm>
          <a:prstGeom prst="ellipse">
            <a:avLst/>
          </a:prstGeom>
          <a:solidFill>
            <a:srgbClr val="17352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308610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80720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38.19% of rides go incomplete — a major lever for operational improvement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3739896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1D2430"/>
          </a:solidFill>
          <a:ln/>
        </p:spPr>
      </p:sp>
      <p:sp>
        <p:nvSpPr>
          <p:cNvPr id="13" name="Shape 9"/>
          <p:cNvSpPr/>
          <p:nvPr/>
        </p:nvSpPr>
        <p:spPr>
          <a:xfrm>
            <a:off x="841248" y="3918204"/>
            <a:ext cx="384048" cy="384048"/>
          </a:xfrm>
          <a:prstGeom prst="ellipse">
            <a:avLst/>
          </a:prstGeom>
          <a:solidFill>
            <a:srgbClr val="17352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018788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73989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is the dominant payment method, more than all others combined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4672584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1D2430"/>
          </a:solidFill>
          <a:ln/>
        </p:spPr>
      </p:sp>
      <p:sp>
        <p:nvSpPr>
          <p:cNvPr id="17" name="Shape 12"/>
          <p:cNvSpPr/>
          <p:nvPr/>
        </p:nvSpPr>
        <p:spPr>
          <a:xfrm>
            <a:off x="841248" y="4850892"/>
            <a:ext cx="384048" cy="384048"/>
          </a:xfrm>
          <a:prstGeom prst="ellipse">
            <a:avLst/>
          </a:prstGeom>
          <a:solidFill>
            <a:srgbClr val="17352F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951476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467258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cancellations put 10% of revenue at risk (645.11K impact)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40080" y="5605272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1D2430"/>
          </a:solidFill>
          <a:ln/>
        </p:spPr>
      </p:sp>
      <p:sp>
        <p:nvSpPr>
          <p:cNvPr id="21" name="Shape 15"/>
          <p:cNvSpPr/>
          <p:nvPr/>
        </p:nvSpPr>
        <p:spPr>
          <a:xfrm>
            <a:off x="841248" y="5783580"/>
            <a:ext cx="384048" cy="384048"/>
          </a:xfrm>
          <a:prstGeom prst="ellipse">
            <a:avLst/>
          </a:prstGeom>
          <a:solidFill>
            <a:srgbClr val="17352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5884164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17320" y="560527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peaks 6–9 PM, concentrated around a handful of top locations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B9A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4630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23317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FB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dashboard to decisions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663440" y="91440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Consolidating bookings, revenue, vehicle, and customer data into one interactive report enables faster, evidence-based decisions.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663440" y="2331720"/>
            <a:ext cx="164592" cy="164592"/>
          </a:xfrm>
          <a:prstGeom prst="ellipse">
            <a:avLst/>
          </a:prstGeom>
          <a:solidFill>
            <a:srgbClr val="0FB9A6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0" y="214884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driver supply toward Auto and Bike, the top revenue vehicle types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663440" y="3108960"/>
            <a:ext cx="164592" cy="164592"/>
          </a:xfrm>
          <a:prstGeom prst="ellipse">
            <a:avLst/>
          </a:prstGeom>
          <a:solidFill>
            <a:srgbClr val="0FB9A6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292608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38% incomplete-ride rate and "driver asked to cancel" pattern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3886200"/>
            <a:ext cx="164592" cy="164592"/>
          </a:xfrm>
          <a:prstGeom prst="ellipse">
            <a:avLst/>
          </a:prstGeom>
          <a:solidFill>
            <a:srgbClr val="0FB9A6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370332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surge pricing and staffing around the 6–9 PM demand peak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7352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9456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 — including the .pbix file — available on GitHub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703320"/>
            <a:ext cx="1097280" cy="0"/>
          </a:xfrm>
          <a:prstGeom prst="line">
            <a:avLst/>
          </a:prstGeom>
          <a:noFill/>
          <a:ln w="38100">
            <a:solidFill>
              <a:srgbClr val="0FB9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31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connect — open to feedback and opportunities in data analytics.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Uber Rides Analytics Dashboard</dc:title>
  <dc:subject>PptxGenJS Presentation</dc:subject>
  <dc:creator>Author</dc:creator>
  <cp:lastModifiedBy>Author</cp:lastModifiedBy>
  <cp:revision>1</cp:revision>
  <dcterms:created xsi:type="dcterms:W3CDTF">2026-07-09T05:25:23Z</dcterms:created>
  <dcterms:modified xsi:type="dcterms:W3CDTF">2026-07-09T05:25:23Z</dcterms:modified>
</cp:coreProperties>
</file>